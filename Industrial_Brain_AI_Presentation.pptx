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7"/>
  </p:normalViewPr>
  <p:slideViewPr>
    <p:cSldViewPr snapToGrid="0" snapToObjects="1">
      <p:cViewPr varScale="1">
        <p:scale>
          <a:sx n="108" d="100"/>
          <a:sy n="108" d="100"/>
        </p:scale>
        <p:origin x="7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Segoe UI Semibold"/>
              </a:defRPr>
            </a:pPr>
            <a:r>
              <a:t>Industrial Brain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2A0"/>
                </a:solidFill>
                <a:latin typeface="Segoe UI"/>
              </a:defRPr>
            </a:pPr>
            <a:r>
              <a:t>AI-Powered Knowledge Platform for Industrial Operations  •  Manufacturing  •  Safety  • 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2743200" cy="38100"/>
          </a:xfrm>
          <a:prstGeom prst="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3657600" cy="201168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764792"/>
            <a:ext cx="54864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8562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 Semibold"/>
              </a:defRPr>
            </a:pPr>
            <a:r>
              <a:rPr dirty="0"/>
              <a:t>⚠ 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Knowledge trapped in 1000s of unstructured PDFs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95728"/>
            <a:ext cx="3291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rPr dirty="0"/>
              <a:t> </a:t>
            </a:r>
            <a:r>
              <a:rPr lang="en-US" dirty="0"/>
              <a:t>     </a:t>
            </a:r>
            <a:r>
              <a:rPr dirty="0"/>
              <a:t> </a:t>
            </a:r>
            <a:r>
              <a:rPr lang="en-US" dirty="0"/>
              <a:t>  </a:t>
            </a:r>
            <a:r>
              <a:rPr dirty="0"/>
              <a:t>Manual search causes excessive downtime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96896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Compliance gaps missed until audit failures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9806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Tribal knowledge lost when experts retire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923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Reactive maintenance → costly breakdowns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91640"/>
            <a:ext cx="3657600" cy="201168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764792"/>
            <a:ext cx="548640" cy="38100"/>
          </a:xfrm>
          <a:prstGeom prst="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8562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2A0"/>
                </a:solidFill>
                <a:latin typeface="Segoe UI Semibold"/>
              </a:defRPr>
            </a:pPr>
            <a:r>
              <a:t>✦  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945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AI Copilot with evidence-grounded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9572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Hybrid search: SQL + Vector + BM25 +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96896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Automated compliance auditing (ISO/OSHA)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79806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Knowledge Graph linking all plant entities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99923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Predictive failure pattern detection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691640"/>
            <a:ext cx="3657600" cy="201168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1764792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18562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5CF6"/>
                </a:solidFill>
                <a:latin typeface="Segoe UI Semibold"/>
              </a:defRPr>
            </a:pPr>
            <a:r>
              <a:t>◆  Key Innovations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1945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Intent-Aware Hybrid RAG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39572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Multi-Agent Orchestration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596896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Evidence-Only AI (no hallucinations)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79806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Page-Level Citation Traceability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99923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Document-Type Isolation for safety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77639"/>
            <a:ext cx="1280160" cy="640080"/>
          </a:xfrm>
          <a:prstGeom prst="roundRect">
            <a:avLst/>
          </a:prstGeom>
          <a:solidFill>
            <a:srgbClr val="16203C"/>
          </a:solidFill>
          <a:ln w="12700">
            <a:solidFill>
              <a:srgbClr val="0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3995927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D2A0"/>
                </a:solidFill>
                <a:latin typeface="Segoe UI Semibold"/>
              </a:defRPr>
            </a:pPr>
            <a:r>
              <a:t>1,231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34339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C3DC"/>
                </a:solidFill>
                <a:latin typeface="Segoe UI"/>
              </a:defRPr>
            </a:pPr>
            <a:r>
              <a:t>Documents Ingested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20" y="3977639"/>
            <a:ext cx="1280160" cy="640080"/>
          </a:xfrm>
          <a:prstGeom prst="roundRect">
            <a:avLst/>
          </a:prstGeom>
          <a:solidFill>
            <a:srgbClr val="16203C"/>
          </a:solidFill>
          <a:ln w="1270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65960" y="3995927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884FF"/>
                </a:solidFill>
                <a:latin typeface="Segoe UI Semibold"/>
              </a:defRPr>
            </a:pPr>
            <a:r>
              <a:t>7,714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434339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C3DC"/>
                </a:solidFill>
                <a:latin typeface="Segoe UI"/>
              </a:defRPr>
            </a:pPr>
            <a:r>
              <a:t>Chunks Indexed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3977639"/>
            <a:ext cx="1280160" cy="640080"/>
          </a:xfrm>
          <a:prstGeom prst="roundRect">
            <a:avLst/>
          </a:prstGeom>
          <a:solidFill>
            <a:srgbClr val="1620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83280" y="3995927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Segoe UI Semibold"/>
              </a:defRPr>
            </a:pPr>
            <a:r>
              <a:t>86/100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34339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C3DC"/>
                </a:solidFill>
                <a:latin typeface="Segoe UI"/>
              </a:defRPr>
            </a:pPr>
            <a:r>
              <a:t>Brain Score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09160" y="3977639"/>
            <a:ext cx="1280160" cy="640080"/>
          </a:xfrm>
          <a:prstGeom prst="roundRect">
            <a:avLst/>
          </a:prstGeom>
          <a:solidFill>
            <a:srgbClr val="16203C"/>
          </a:solidFill>
          <a:ln w="12700">
            <a:solidFill>
              <a:srgbClr val="0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00600" y="3995927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D2A0"/>
                </a:solidFill>
                <a:latin typeface="Segoe UI Semibold"/>
              </a:defRPr>
            </a:pPr>
            <a:r>
              <a:t>90.5%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434339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C3DC"/>
                </a:solidFill>
                <a:latin typeface="Segoe UI"/>
              </a:defRPr>
            </a:pPr>
            <a:r>
              <a:t>System Confidence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3977639"/>
            <a:ext cx="1280160" cy="640080"/>
          </a:xfrm>
          <a:prstGeom prst="roundRect">
            <a:avLst/>
          </a:prstGeom>
          <a:solidFill>
            <a:srgbClr val="1620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0" y="3995927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Segoe UI Semibold"/>
              </a:defRPr>
            </a:pPr>
            <a: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34339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C3DC"/>
                </a:solidFill>
                <a:latin typeface="Segoe UI"/>
              </a:defRPr>
            </a:pPr>
            <a:r>
              <a:t>DB Tables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43800" y="3977639"/>
            <a:ext cx="1280160" cy="640080"/>
          </a:xfrm>
          <a:prstGeom prst="roundRect">
            <a:avLst/>
          </a:prstGeom>
          <a:solidFill>
            <a:srgbClr val="16203C"/>
          </a:solidFill>
          <a:ln w="1270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35240" y="3995927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884FF"/>
                </a:solidFill>
                <a:latin typeface="Segoe UI Semibold"/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434339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C3DC"/>
                </a:solidFill>
                <a:latin typeface="Segoe UI"/>
              </a:defRPr>
            </a:pPr>
            <a:r>
              <a:t>AI Agents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3977639"/>
            <a:ext cx="1280160" cy="640080"/>
          </a:xfrm>
          <a:prstGeom prst="roundRect">
            <a:avLst/>
          </a:prstGeom>
          <a:solidFill>
            <a:srgbClr val="1620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52560" y="3995927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Segoe UI Semibold"/>
              </a:defRPr>
            </a:pPr>
            <a: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434339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C3DC"/>
                </a:solidFill>
                <a:latin typeface="Segoe UI"/>
              </a:defRPr>
            </a:pPr>
            <a:r>
              <a:t>Docker Services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78440" y="3977639"/>
            <a:ext cx="1280160" cy="640080"/>
          </a:xfrm>
          <a:prstGeom prst="roundRect">
            <a:avLst/>
          </a:prstGeom>
          <a:solidFill>
            <a:srgbClr val="16203C"/>
          </a:solidFill>
          <a:ln w="12700">
            <a:solidFill>
              <a:srgbClr val="0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469880" y="3995927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D2A0"/>
                </a:solidFill>
                <a:latin typeface="Segoe UI Semibold"/>
              </a:defRPr>
            </a:pPr>
            <a: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4343399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C3DC"/>
                </a:solidFill>
                <a:latin typeface="Segoe UI"/>
              </a:defRPr>
            </a:pPr>
            <a:r>
              <a:t>Document Categories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4846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3DC"/>
                </a:solidFill>
                <a:latin typeface="Segoe UI"/>
              </a:defRPr>
            </a:pPr>
            <a:r>
              <a:t>React  •  Vite  •  Tailwind  •  FastAPI  •  LangChain  •  PostgreSQL  •  ChromaDB  •  Redis  •  Gemini  •  Groq  •  Docker  •  Nginx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C3DC"/>
                </a:solidFill>
                <a:latin typeface="Segoe UI"/>
              </a:defRPr>
            </a:pPr>
            <a:r>
              <a:t>Rahul Mahaseth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8100"/>
          </a:xfrm>
          <a:prstGeom prst="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3DC"/>
                </a:solidFill>
                <a:latin typeface="Segoe UI"/>
              </a:defRPr>
            </a:pPr>
            <a:r>
              <a:t>End-to-end data flow from user query to AI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1737360" cy="59436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👤 User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48840" y="1783080"/>
            <a:ext cx="274320" cy="137160"/>
          </a:xfrm>
          <a:prstGeom prst="rightArrow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68880" y="1554480"/>
            <a:ext cx="1737360" cy="59436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React + Vite</a:t>
            </a:r>
            <a:br/>
            <a:r>
              <a:t>Frontend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51960" y="1783080"/>
            <a:ext cx="274320" cy="137160"/>
          </a:xfrm>
          <a:prstGeom prst="rightArrow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0" y="1554480"/>
            <a:ext cx="1737360" cy="59436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Nginx</a:t>
            </a:r>
            <a:br/>
            <a:r>
              <a:t>Reverse Proxy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355080" y="1783080"/>
            <a:ext cx="274320" cy="1371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675120" y="1554480"/>
            <a:ext cx="1737360" cy="59436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0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FastAPI</a:t>
            </a:r>
            <a:br/>
            <a:r>
              <a:t>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7855" y="1554480"/>
            <a:ext cx="2011680" cy="594360"/>
          </a:xfrm>
          <a:prstGeom prst="roundRect">
            <a:avLst/>
          </a:prstGeom>
          <a:solidFill>
            <a:srgbClr val="16203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🧠 AI Orchestrator</a:t>
            </a:r>
            <a:br>
              <a:rPr dirty="0"/>
            </a:br>
            <a:r>
              <a:rPr dirty="0"/>
              <a:t>&amp; Intent Classifier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15200" y="1783080"/>
            <a:ext cx="320040" cy="137160"/>
          </a:xfrm>
          <a:prstGeom prst="rightArrow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694910" y="1495044"/>
            <a:ext cx="1283730" cy="301752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0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SOP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94910" y="1901815"/>
            <a:ext cx="1427718" cy="301752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RCA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59534" y="2354384"/>
            <a:ext cx="1380509" cy="32766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Compliance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743200"/>
            <a:ext cx="2103120" cy="64008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PostgreSQL</a:t>
            </a:r>
            <a:br/>
            <a:r>
              <a:t>12 Tables • 1231 Docs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2743200"/>
            <a:ext cx="2103120" cy="64008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ChromaDB</a:t>
            </a:r>
            <a:br/>
            <a:r>
              <a:t>Vector Embeddings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2743200"/>
            <a:ext cx="2103120" cy="64008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Redis</a:t>
            </a:r>
            <a:br/>
            <a:r>
              <a:t>Cache + Queue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2743200"/>
            <a:ext cx="2103120" cy="64008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0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Knowledge Graph</a:t>
            </a:r>
            <a:br/>
            <a:r>
              <a:t>Nodes &amp; Edges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743200"/>
            <a:ext cx="2103120" cy="64008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Celery Workers</a:t>
            </a:r>
            <a:br/>
            <a:r>
              <a:t>Background Tasks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943600" y="2194560"/>
            <a:ext cx="182880" cy="182880"/>
          </a:xfrm>
          <a:prstGeom prst="downArrow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840480"/>
            <a:ext cx="11430000" cy="38100"/>
          </a:xfrm>
          <a:prstGeom prst="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A0"/>
                </a:solidFill>
                <a:latin typeface="Segoe UI Semibold"/>
              </a:defRPr>
            </a:pPr>
            <a:r>
              <a:t>HYBRID RETRIEVAL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251960"/>
            <a:ext cx="1143000" cy="5029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Intent</a:t>
            </a:r>
            <a:br/>
            <a:r>
              <a:t>Detection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508760" y="4434840"/>
            <a:ext cx="137160" cy="137160"/>
          </a:xfrm>
          <a:prstGeom prst="rightArrow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645920" y="4251960"/>
            <a:ext cx="1143000" cy="5029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Query</a:t>
            </a:r>
            <a:br/>
            <a:r>
              <a:t>Rewriting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788920" y="4434840"/>
            <a:ext cx="137160" cy="137160"/>
          </a:xfrm>
          <a:prstGeom prst="rightArrow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926080" y="4251960"/>
            <a:ext cx="1143000" cy="5029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Metadata</a:t>
            </a:r>
            <a:br/>
            <a:r>
              <a:t>Filter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069080" y="4434840"/>
            <a:ext cx="137160" cy="137160"/>
          </a:xfrm>
          <a:prstGeom prst="rightArrow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206240" y="4251960"/>
            <a:ext cx="1143000" cy="5029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SQL</a:t>
            </a:r>
            <a:br/>
            <a:r>
              <a:t>Search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349240" y="4434840"/>
            <a:ext cx="137160" cy="137160"/>
          </a:xfrm>
          <a:prstGeom prst="rightArrow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486400" y="4251960"/>
            <a:ext cx="1143000" cy="5029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Vector</a:t>
            </a:r>
            <a:br/>
            <a:r>
              <a:t>Search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629400" y="4434840"/>
            <a:ext cx="137160" cy="137160"/>
          </a:xfrm>
          <a:prstGeom prst="rightArrow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766560" y="4251960"/>
            <a:ext cx="1143000" cy="5029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BM25</a:t>
            </a:r>
            <a:br/>
            <a:r>
              <a:t>Keyword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909560" y="4434840"/>
            <a:ext cx="137160" cy="137160"/>
          </a:xfrm>
          <a:prstGeom prst="rightArrow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046720" y="4251960"/>
            <a:ext cx="1143000" cy="5029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Graph</a:t>
            </a:r>
            <a:br/>
            <a:r>
              <a:t>Traversal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189720" y="4434840"/>
            <a:ext cx="137160" cy="137160"/>
          </a:xfrm>
          <a:prstGeom prst="rightArrow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326880" y="4251960"/>
            <a:ext cx="1143000" cy="5029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Cross-Encoder</a:t>
            </a:r>
            <a:br/>
            <a:r>
              <a:t>Re-ranking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469880" y="4434840"/>
            <a:ext cx="137160" cy="137160"/>
          </a:xfrm>
          <a:prstGeom prst="rightArrow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607040" y="4251960"/>
            <a:ext cx="1143000" cy="5029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Context</a:t>
            </a:r>
            <a:br/>
            <a:r>
              <a:t>Compression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5120640"/>
            <a:ext cx="2286000" cy="5029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LLM Inference</a:t>
            </a:r>
            <a:br/>
            <a:r>
              <a:t>(Gemini 1.5 / Groq Llama)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2743200" y="5303520"/>
            <a:ext cx="274320" cy="13716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108960" y="5120640"/>
            <a:ext cx="2011680" cy="5029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Hallucination Guard</a:t>
            </a:r>
            <a:br/>
            <a:r>
              <a:t>&amp; Citation Validator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212080" y="5303520"/>
            <a:ext cx="274320" cy="137160"/>
          </a:xfrm>
          <a:prstGeom prst="rightArrow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577840" y="5120640"/>
            <a:ext cx="2286000" cy="502920"/>
          </a:xfrm>
          <a:prstGeom prst="roundRect">
            <a:avLst/>
          </a:prstGeom>
          <a:solidFill>
            <a:srgbClr val="16203C"/>
          </a:solidFill>
          <a:ln w="12700">
            <a:solidFill>
              <a:srgbClr val="0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✅ Grounded AI Response</a:t>
            </a:r>
            <a:br/>
            <a:r>
              <a:t>with Page-Level Citations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5074920"/>
            <a:ext cx="1463040" cy="640080"/>
          </a:xfrm>
          <a:prstGeom prst="roundRect">
            <a:avLst/>
          </a:prstGeom>
          <a:solidFill>
            <a:srgbClr val="16203C"/>
          </a:solidFill>
          <a:ln w="12700">
            <a:solidFill>
              <a:srgbClr val="0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21040" y="509320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D2A0"/>
                </a:solidFill>
                <a:latin typeface="Segoe UI Semibold"/>
              </a:defRPr>
            </a:pPr>
            <a:r>
              <a:t>90.5%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44068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C3DC"/>
                </a:solidFill>
                <a:latin typeface="Segoe UI"/>
              </a:defRPr>
            </a:pPr>
            <a:r>
              <a:t>Avg. Confidence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75520" y="5074920"/>
            <a:ext cx="1463040" cy="640080"/>
          </a:xfrm>
          <a:prstGeom prst="roundRect">
            <a:avLst/>
          </a:prstGeom>
          <a:solidFill>
            <a:srgbClr val="1620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037814" y="5093208"/>
            <a:ext cx="113845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Segoe UI Semibold"/>
              </a:defRPr>
            </a:pPr>
            <a:r>
              <a:rPr dirty="0"/>
              <a:t>&lt; 5</a:t>
            </a:r>
            <a:r>
              <a:rPr lang="en-US" dirty="0"/>
              <a:t>-10</a:t>
            </a:r>
            <a:r>
              <a:rPr dirty="0"/>
              <a:t>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544068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C3DC"/>
                </a:solidFill>
                <a:latin typeface="Segoe UI"/>
              </a:defRPr>
            </a:pPr>
            <a:r>
              <a:t>Hallucination Risk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C3DC"/>
                </a:solidFill>
                <a:latin typeface="Segoe UI"/>
              </a:defRPr>
            </a:pPr>
            <a:r>
              <a:t>Rahul Mahaseth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Intelligence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8100"/>
          </a:xfrm>
          <a:prstGeom prst="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3DC"/>
                </a:solidFill>
                <a:latin typeface="Segoe UI"/>
              </a:defRPr>
            </a:pPr>
            <a:r>
              <a:t>Four specialized AI agents powering industrial decision-making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5669280" cy="22860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548640" cy="38100"/>
          </a:xfrm>
          <a:prstGeom prst="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2A0"/>
                </a:solidFill>
                <a:latin typeface="Segoe UI Semibold"/>
              </a:defRPr>
            </a:pPr>
            <a:r>
              <a:t>🤖  AI Copilot — Conversational Knowledge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Chat interface with conversation history (Today/7d/30d)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5856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Intent-aware routing: troubleshooting, manual lookup, procedure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5973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Hybrid retrieval: SQL + BM25 + Vector + Knowledge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6090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Evidence-only generation — never fabricates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6207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Rich Markdown responses with tables, code blocks,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Page-level citations linking back to source 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6440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Confidence scoring on every response (avg 90.5%)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5669280" cy="22860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1627632"/>
            <a:ext cx="54864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7190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 Semibold"/>
              </a:defRPr>
            </a:pPr>
            <a:r>
              <a:t>🔍  Root Cause Analysis — AI Failure Detective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574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Multi-agent diagnostic engine for equipment failures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5856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Queries Knowledge Graph for all linked incidents &amp;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5973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Analyzes chronology to separate root cause from symptoms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6090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Generates Fishbone (Ishikawa) diagram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6207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Suggests corrective actions based on historical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6324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Cross-references SOPs and maintenance manuals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6440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Produces structured investigation 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114800"/>
            <a:ext cx="5669280" cy="22860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187952"/>
            <a:ext cx="5486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2793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 Semibold"/>
              </a:defRPr>
            </a:pPr>
            <a:r>
              <a:t>📋  Regulatory Compliance — 24/7 Automated Auditor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1772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Maintains database of ISO 22000, OSHA, GMP frameworks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188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Cross-references plant activities against standards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2005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Identifies compliance gaps and missing certificates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22122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Assigns risk scores (Critical/High/Medium/Low)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42239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Generates audit-ready reports on demand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2356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Tracks compliance status across all departments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2472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Proactive alerts before regulatory deadlines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114800"/>
            <a:ext cx="5669280" cy="22860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55080" y="4187952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42793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5CF6"/>
                </a:solidFill>
                <a:latin typeface="Segoe UI Semibold"/>
              </a:defRPr>
            </a:pPr>
            <a:r>
              <a:t>⚡  Failure Intelligence — Predictive Pattern Discovery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1772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Aggregates metadata from all incident &amp; maintenance logs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188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NLP clustering of similar failures (bearing, seal, motor)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02005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Statistical heatmap of failure frequencies per asset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22122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MTBF (Mean Time Between Failures)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42239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Predictive risk scores for individual equipment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62356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Enables shift from reactive → predictive maintenance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82472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Identifies systemic issues across the entire facility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C3DC"/>
                </a:solidFill>
                <a:latin typeface="Segoe UI"/>
              </a:defRPr>
            </a:pPr>
            <a:r>
              <a:t>Rahul Mahaseth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Product Demo &amp;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8100"/>
          </a:xfrm>
          <a:prstGeom prst="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3DC"/>
                </a:solidFill>
                <a:latin typeface="Segoe UI"/>
              </a:defRPr>
            </a:pPr>
            <a:r>
              <a:t>Live screenshots from the running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5669280" cy="28346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13_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486400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657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D2A0"/>
                </a:solidFill>
                <a:latin typeface="Segoe UI"/>
              </a:defRPr>
            </a:pPr>
            <a:r>
              <a:t>Dashboard — Real-time Asset Health &amp;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5669280" cy="28346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3_2_AI_Copilo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63040"/>
            <a:ext cx="5486400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3657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D2A0"/>
                </a:solidFill>
                <a:latin typeface="Segoe UI"/>
              </a:defRPr>
            </a:pPr>
            <a:r>
              <a:t>AI Copilot — Evidence-Based Q&amp;A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023360"/>
            <a:ext cx="5669280" cy="28346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13_3_Knowledge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114800"/>
            <a:ext cx="5486400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D2A0"/>
                </a:solidFill>
                <a:latin typeface="Segoe UI"/>
              </a:defRPr>
            </a:pPr>
            <a:r>
              <a:t>Knowledge Graph — Entity Relationships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023360"/>
            <a:ext cx="5669280" cy="28346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13_4_Root_Cause_Analy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114800"/>
            <a:ext cx="5486400" cy="2194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2648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D2A0"/>
                </a:solidFill>
                <a:latin typeface="Segoe UI"/>
              </a:defRPr>
            </a:pPr>
            <a:r>
              <a:t>Root Cause Analysis — AI Investigation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C3DC"/>
                </a:solidFill>
                <a:latin typeface="Segoe UI"/>
              </a:defRPr>
            </a:pPr>
            <a:r>
              <a:t>Rahul Mahaseth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Results, Impact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8100"/>
          </a:xfrm>
          <a:prstGeom prst="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3DC"/>
                </a:solidFill>
                <a:latin typeface="Segoe UI"/>
              </a:defRPr>
            </a:pPr>
            <a:r>
              <a:t>Measurable outcomes and the roadmap ahead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3657600" cy="27432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548640" cy="38100"/>
          </a:xfrm>
          <a:prstGeom prst="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19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2A0"/>
                </a:solidFill>
                <a:latin typeface="Segoe UI Semibold"/>
              </a:defRPr>
            </a:pPr>
            <a:r>
              <a:t>📊  Key Results &amp;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1,231 industrial documents ingested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5856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7,714 pages indexed with full-text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59736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10 document categories auto-classified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6090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Brain Score: 86/100 avg asset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6207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90.5% average AI response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&lt; 5% hallucination risk (evidence-only)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6440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Seconds to retrieve vs hours of manual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65576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Knowledge Graph: assets, SOPs, incidents linked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554480"/>
            <a:ext cx="3657600" cy="27432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43400" y="1627632"/>
            <a:ext cx="548640" cy="38100"/>
          </a:xfrm>
          <a:prstGeom prst="rect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1719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84FF"/>
                </a:solidFill>
                <a:latin typeface="Segoe UI Semibold"/>
              </a:defRPr>
            </a:pPr>
            <a:r>
              <a:t>📁  Document Intelligence Stats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05740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Inspection Records: 300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25856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Safety &amp; Incidents: 237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459736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QA Reports: 200 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66090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Root Cause Analysis: 200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86207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Standard Operating Procedures: 100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06324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Compliance Certificates: 80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26440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Equipment Manuals: 60 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465576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Maintenance Records: 54 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554480"/>
            <a:ext cx="3657600" cy="27432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83880" y="1627632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80" y="1719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5CF6"/>
                </a:solidFill>
                <a:latin typeface="Segoe UI Semibold"/>
              </a:defRPr>
            </a:pPr>
            <a:r>
              <a:t>🚀  Future Scope &amp; 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05740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Predictive Maintenance ML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25856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Live IoT Sensor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459736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Complete Digital Twin Synchronisation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66090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Multi-Plant Knowledge Sharing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86207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Edge AI for Offline/Air-Gapped Sites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06324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Voice-Controlled Copilot (Hands-Free)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26440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Mobile App for Field Technicians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465576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C3DC"/>
                </a:solidFill>
                <a:latin typeface="Segoe UI"/>
              </a:defRPr>
            </a:pPr>
            <a:r>
              <a:t>▸  Automated Report Generation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480560"/>
            <a:ext cx="11430000" cy="38100"/>
          </a:xfrm>
          <a:prstGeom prst="rect">
            <a:avLst/>
          </a:prstGeom>
          <a:solidFill>
            <a:srgbClr val="0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45720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2A0"/>
                </a:solidFill>
                <a:latin typeface="Segoe UI Semibold"/>
              </a:defRPr>
            </a:pPr>
            <a:r>
              <a:t>TRADITIONAL SEARCH  vs  INDUSTRIAL BRAIN AI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365760" y="48920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D2A0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6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Traditional Search</a:t>
                      </a:r>
                    </a:p>
                  </a:txBody>
                  <a:tcPr>
                    <a:solidFill>
                      <a:srgbClr val="1620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D2A0"/>
                          </a:solidFill>
                          <a:latin typeface="Segoe UI"/>
                        </a:defRPr>
                      </a:pPr>
                      <a:r>
                        <a:t>Industrial Brain AI</a:t>
                      </a:r>
                    </a:p>
                  </a:txBody>
                  <a:tcPr>
                    <a:solidFill>
                      <a:srgbClr val="1620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Retrieval Method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Keyword-based (BM25 only)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Hybrid (SQL + Vector + BM25 + Graph)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Answer Format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List of file links (no context)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Synthesized answer with exact page citations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Failure Diagnosis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Manual log review (hours/days)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AI Root Cause Analysis in seconds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Compliance Tracking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Spreadsheets &amp; manual audits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Automated ISO/OSHA gap analysis + risk scoring</a:t>
                      </a:r>
                    </a:p>
                  </a:txBody>
                  <a:tcPr>
                    <a:solidFill>
                      <a:srgbClr val="10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8686800" y="64465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C3DC"/>
                </a:solidFill>
                <a:latin typeface="Segoe UI"/>
              </a:defRPr>
            </a:pPr>
            <a:r>
              <a:t>Rahul Mahaseth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880</Words>
  <Application>Microsoft Macintosh PowerPoint</Application>
  <PresentationFormat>Widescreen</PresentationFormat>
  <Paragraphs>159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AP23110011538 | Rahul Mahaseth</cp:lastModifiedBy>
  <cp:revision>2</cp:revision>
  <dcterms:created xsi:type="dcterms:W3CDTF">2013-01-27T09:14:16Z</dcterms:created>
  <dcterms:modified xsi:type="dcterms:W3CDTF">2026-07-20T18:42:47Z</dcterms:modified>
  <cp:category/>
</cp:coreProperties>
</file>