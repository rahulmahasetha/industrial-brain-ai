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/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Problem, Solution &amp; Innovation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286000" cy="457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C896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8D2E6"/>
                </a:solidFill>
                <a:latin typeface="Segoe UI"/>
              </a:defRPr>
            </a:pPr>
            <a:r>
              <a:t>Operational knowledge is trapped in unstructured documents (SOPs, manuals). Manual search causes excessive downtime, safety risks, and compliance gaps.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C896"/>
                </a:solidFill>
                <a:latin typeface="Segoe UI"/>
              </a:defRPr>
            </a:pPr>
            <a:r>
              <a:t>The Solution: Industrial Brain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8D2E6"/>
                </a:solidFill>
                <a:latin typeface="Segoe UI"/>
              </a:defRPr>
            </a:pPr>
            <a:r>
              <a:t>Transforms enterprise documents into an intelligent, searchable knowledge base. Delivers evidence-grounded insights with an AI Copilot tailored for manufacturing.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C896"/>
                </a:solidFill>
                <a:latin typeface="Segoe UI"/>
              </a:defRPr>
            </a:pPr>
            <a:r>
              <a:t>Key Innovations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828800"/>
            <a:ext cx="4114800" cy="548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Intent-Aware Hybrid RAG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560320"/>
            <a:ext cx="4114800" cy="548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Hybrid Retrieval (SQL + BM25 + Vector + Graph)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3291839"/>
            <a:ext cx="4114800" cy="548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Evidence-Only AI &amp; Page-Level Citations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4023359"/>
            <a:ext cx="4114800" cy="548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Strict Document-Type Isolation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79"/>
            <a:ext cx="4114800" cy="548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AI-Powered Copilot &amp; RCA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/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Complete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286000" cy="457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657600" cy="4114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User Query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65960"/>
            <a:ext cx="3657600" cy="4114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React + Vite Frontend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60320"/>
            <a:ext cx="3657600" cy="4114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FastAPI Backend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54679"/>
            <a:ext cx="3657600" cy="4114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AI Orchestrator &amp; Intent Classifier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71600"/>
            <a:ext cx="4114800" cy="7315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Hybrid Retrieval Engine</a:t>
            </a:r>
            <a:br/>
            <a:r>
              <a:t>(SQL + BM25 + Vector + Graph)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286000"/>
            <a:ext cx="4114800" cy="4114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Cross-Encoder Re-ranking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880360"/>
            <a:ext cx="4114800" cy="4114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Context Compression &amp; Citation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3474720"/>
            <a:ext cx="4114800" cy="4114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LLM (Gemini / Groq)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4069080"/>
            <a:ext cx="4114800" cy="4114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Grounded AI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C896"/>
                </a:solidFill>
                <a:latin typeface="Segoe UI"/>
              </a:defRPr>
            </a:pPr>
            <a:r>
              <a:t>Supporting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8D2E6"/>
                </a:solidFill>
                <a:latin typeface="Segoe UI"/>
              </a:defRPr>
            </a:pPr>
            <a:r>
              <a:t>• PostgreSQL   • ChromaDB   • Redis</a:t>
            </a:r>
            <a:br/>
            <a:r>
              <a:t>• Celery   • Docker   • Nginx   • Render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/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Enterprise AI &amp; RAG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286000" cy="457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C896"/>
                </a:solidFill>
                <a:latin typeface="Segoe UI"/>
              </a:defRPr>
            </a:pPr>
            <a:r>
              <a:t>1. Ingestion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C896"/>
                </a:solidFill>
                <a:latin typeface="Segoe UI"/>
              </a:defRPr>
            </a:pPr>
            <a:r>
              <a:t>2. Retrieval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C896"/>
                </a:solidFill>
                <a:latin typeface="Segoe UI"/>
              </a:defRPr>
            </a:pPr>
            <a:r>
              <a:t>3. Generation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Document Upload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6888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OCR / Parsing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10896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Metadata Extraction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74904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Semantic Chunking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8912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Embeddings &amp; Graph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82880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Intent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46888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Query Rewriting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310896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Metadata Filtering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374904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Hybrid Retrieval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438912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Re-ranking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82880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Context Compression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46888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Prompt Builder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0896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LLM Inference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74904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Hallucination Guard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389120"/>
            <a:ext cx="2560320" cy="457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AI Response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03520"/>
            <a:ext cx="8229600" cy="914400"/>
          </a:xfrm>
          <a:prstGeom prst="roundRect">
            <a:avLst/>
          </a:prstGeom>
          <a:solidFill>
            <a:srgbClr val="0A323C"/>
          </a:solidFill>
          <a:ln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00C896"/>
                </a:solidFill>
              </a:defRPr>
            </a:pPr>
            <a:r>
              <a:t>Highlights: Evidence-only generation • Cross-document contamination prevention • Explainable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/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Product Demo &amp;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286000" cy="457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C896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D2E6"/>
                </a:solidFill>
                <a:latin typeface="Segoe UI"/>
              </a:defRPr>
            </a:pPr>
            <a:r>
              <a:t>• Frontend: React, Vite, Tailwind</a:t>
            </a:r>
            <a:br/>
            <a:r>
              <a:t>• Backend: FastAPI, LangChain</a:t>
            </a:r>
            <a:br/>
            <a:r>
              <a:t>• Database: PostgreSQL, ChromaDB, Redis</a:t>
            </a:r>
            <a:br/>
            <a:r>
              <a:t>• AI: Gemini, Groq</a:t>
            </a:r>
            <a:br/>
            <a:r>
              <a:t>• Deployment: Docker, Nginx, Render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C896"/>
                </a:solidFill>
                <a:latin typeface="Segoe UI"/>
              </a:defRPr>
            </a:pPr>
            <a:r>
              <a:t>Core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D2E6"/>
                </a:solidFill>
                <a:latin typeface="Segoe UI"/>
              </a:defRPr>
            </a:pPr>
            <a:r>
              <a:t>• AI Copilot &amp; Document Hub</a:t>
            </a:r>
            <a:br/>
            <a:r>
              <a:t>• Root Cause Analysis</a:t>
            </a:r>
            <a:br/>
            <a:r>
              <a:t>• Knowledge Graph Explorer</a:t>
            </a:r>
            <a:br/>
            <a:r>
              <a:t>• Compliance Center</a:t>
            </a:r>
            <a:br/>
            <a:r>
              <a:t>• Failure Intelligence</a:t>
            </a:r>
          </a:p>
        </p:txBody>
      </p:sp>
      <p:pic>
        <p:nvPicPr>
          <p:cNvPr id="8" name="Picture 7" descr="13_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371600"/>
            <a:ext cx="4572000" cy="2580680"/>
          </a:xfrm>
          <a:prstGeom prst="rect">
            <a:avLst/>
          </a:prstGeom>
        </p:spPr>
      </p:pic>
      <p:pic>
        <p:nvPicPr>
          <p:cNvPr id="9" name="Picture 8" descr="13_3_Knowledge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931920"/>
            <a:ext cx="4572000" cy="25940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/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Results, Innovation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286000" cy="457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C896"/>
                </a:solidFill>
                <a:latin typeface="Segoe UI"/>
              </a:defRPr>
            </a:pPr>
            <a:r>
              <a:t>Key Benefits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D2E6"/>
                </a:solidFill>
                <a:latin typeface="Segoe UI"/>
              </a:defRPr>
            </a:pPr>
            <a:r>
              <a:t>• Faster information retrieval (seconds vs hours)</a:t>
            </a:r>
            <a:br/>
            <a:r>
              <a:t>• Explainable AI with accurate page-level citations</a:t>
            </a:r>
            <a:br/>
            <a:r>
              <a:t>• Reduced troubleshooting and maintenance time</a:t>
            </a:r>
            <a:br/>
            <a:r>
              <a:t>• Proactive compliance &amp; audit readiness</a:t>
            </a:r>
            <a:br/>
            <a:r>
              <a:t>• Institutional knowledge preservation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C896"/>
                </a:solidFill>
                <a:latin typeface="Segoe UI"/>
              </a:defRPr>
            </a:pPr>
            <a:r>
              <a:t>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D2E6"/>
                </a:solidFill>
                <a:latin typeface="Segoe UI"/>
              </a:defRPr>
            </a:pPr>
            <a:r>
              <a:t>• Predictive Maintenance Models</a:t>
            </a:r>
            <a:br/>
            <a:r>
              <a:t>• Live IoT Sensor Integration</a:t>
            </a:r>
            <a:br/>
            <a:r>
              <a:t>• Complete Digital Twin Sync</a:t>
            </a:r>
            <a:br/>
            <a:r>
              <a:t>• Multi-Plant Knowledge Sharing</a:t>
            </a:r>
            <a:br/>
            <a:r>
              <a:t>• Edge AI for Offline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C896"/>
                </a:solidFill>
                <a:latin typeface="Segoe UI"/>
              </a:defRPr>
            </a:pPr>
            <a:r>
              <a:t>Traditional Search vs Industrial Brain AI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38912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Traditional Search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Industrial Brain AI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Retrieval Method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Keyword-based (BM25 only)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Hybrid (SQL + Vector + BM25 + Graph)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Answer Format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List of file links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Synthesized answer with exact page citations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